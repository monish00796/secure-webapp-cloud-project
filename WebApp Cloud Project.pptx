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1D59DE-24C4-4945-984B-955745BA5291}" v="1103" dt="2026-03-07T19:29:54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ENPM 665 Cloud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Webapp project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BB13-6503-A43F-3644-6A6094B22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Architecture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C16022-4B21-A4F2-66E8-F00A5095D4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410091"/>
              </p:ext>
            </p:extLst>
          </p:nvPr>
        </p:nvGraphicFramePr>
        <p:xfrm>
          <a:off x="584200" y="1246505"/>
          <a:ext cx="10515597" cy="479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849">
                  <a:extLst>
                    <a:ext uri="{9D8B030D-6E8A-4147-A177-3AD203B41FA5}">
                      <a16:colId xmlns:a16="http://schemas.microsoft.com/office/drawing/2014/main" val="742845763"/>
                    </a:ext>
                  </a:extLst>
                </a:gridCol>
                <a:gridCol w="8161748">
                  <a:extLst>
                    <a:ext uri="{9D8B030D-6E8A-4147-A177-3AD203B41FA5}">
                      <a16:colId xmlns:a16="http://schemas.microsoft.com/office/drawing/2014/main" val="442102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62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Region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AWS us-east </a:t>
                      </a:r>
                      <a:endParaRPr lang="en-US" sz="28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342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VPC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 Single VPC with Public subnet, two Private Subnets </a:t>
                      </a:r>
                      <a:endParaRPr lang="en-US" sz="28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922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AuthN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SSO and MFA on web application </a:t>
                      </a:r>
                      <a:endParaRPr lang="en-US" sz="28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7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IAM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Users stored in AD instance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963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TLS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Enabled for all service endpoints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33354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AWS 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789025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IAC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Terraform or Cloud 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49729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Capture security compliance criteria.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632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96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2FCF-F8E2-392C-A0FE-00FF5195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Use Case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5F32F-AB8C-CE19-22FF-AB5F40039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Web Application Deployed to Public Subnet</a:t>
            </a:r>
          </a:p>
          <a:p>
            <a:r>
              <a:rPr lang="en-US" dirty="0"/>
              <a:t>Web Service 1 Deployed to Private Subnet 1</a:t>
            </a:r>
          </a:p>
          <a:p>
            <a:r>
              <a:rPr lang="en-US" dirty="0"/>
              <a:t>Web Service 2 Deployed to Private Subnet 2</a:t>
            </a:r>
          </a:p>
          <a:p>
            <a:r>
              <a:rPr lang="en-US" dirty="0"/>
              <a:t>Web Application Authenticates users via UNP/MFA/TLS</a:t>
            </a:r>
          </a:p>
          <a:p>
            <a:r>
              <a:rPr lang="en-US" dirty="0"/>
              <a:t>Web Application Provides Link to Invoke Web Service 1 using TLS</a:t>
            </a:r>
          </a:p>
          <a:p>
            <a:r>
              <a:rPr lang="en-US" dirty="0"/>
              <a:t>Web Service 1 calls Web Service 2 hosted on Private Subnet 2</a:t>
            </a:r>
          </a:p>
          <a:p>
            <a:r>
              <a:rPr lang="en-US" dirty="0"/>
              <a:t>Web Service 2 calls RDS to query data for End-User </a:t>
            </a:r>
          </a:p>
          <a:p>
            <a:r>
              <a:rPr lang="en-US" dirty="0"/>
              <a:t>Data Returned to Web Application and Rendered on Web Page</a:t>
            </a:r>
          </a:p>
        </p:txBody>
      </p:sp>
    </p:spTree>
    <p:extLst>
      <p:ext uri="{BB962C8B-B14F-4D97-AF65-F5344CB8AC3E}">
        <p14:creationId xmlns:p14="http://schemas.microsoft.com/office/powerpoint/2010/main" val="64605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6751-35EB-026B-7B9E-A6B14C121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F5B5A-8235-3C4E-F068-E855AAD0C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Demonstrate Authentication via UNP/MFA/TLS for Each Users into Web Application</a:t>
            </a:r>
          </a:p>
          <a:p>
            <a:r>
              <a:rPr lang="en-US" dirty="0"/>
              <a:t>Display Response Data is Different for Each User</a:t>
            </a:r>
          </a:p>
          <a:p>
            <a:r>
              <a:rPr lang="en-US" dirty="0"/>
              <a:t>Show Audit Logs on Web Application, Web Service 1, Web Service 2 and RDS to Show Who Made the Call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008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2C661F-C83A-1BFC-26B1-6BC7450323CC}"/>
              </a:ext>
            </a:extLst>
          </p:cNvPr>
          <p:cNvSpPr/>
          <p:nvPr/>
        </p:nvSpPr>
        <p:spPr>
          <a:xfrm>
            <a:off x="584478" y="675476"/>
            <a:ext cx="10790654" cy="555709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37AFA-FC56-91CD-C191-BD47CB8FB0AA}"/>
              </a:ext>
            </a:extLst>
          </p:cNvPr>
          <p:cNvSpPr/>
          <p:nvPr/>
        </p:nvSpPr>
        <p:spPr>
          <a:xfrm>
            <a:off x="817949" y="1348831"/>
            <a:ext cx="1788718" cy="1285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App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EA0224-EF90-B4A8-D18A-803121F5BAED}"/>
              </a:ext>
            </a:extLst>
          </p:cNvPr>
          <p:cNvSpPr/>
          <p:nvPr/>
        </p:nvSpPr>
        <p:spPr>
          <a:xfrm>
            <a:off x="4492910" y="1348830"/>
            <a:ext cx="1788718" cy="1285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Web Service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5429E8-101D-A51B-4FE2-A12E8268AE61}"/>
              </a:ext>
            </a:extLst>
          </p:cNvPr>
          <p:cNvSpPr/>
          <p:nvPr/>
        </p:nvSpPr>
        <p:spPr>
          <a:xfrm>
            <a:off x="4492909" y="4126753"/>
            <a:ext cx="1788718" cy="12856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Web Service 2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610A9EB9-7C9B-F829-CCE7-2CC8161FD70C}"/>
              </a:ext>
            </a:extLst>
          </p:cNvPr>
          <p:cNvSpPr/>
          <p:nvPr/>
        </p:nvSpPr>
        <p:spPr>
          <a:xfrm>
            <a:off x="8518252" y="4129862"/>
            <a:ext cx="1020128" cy="135551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RDS</a:t>
            </a: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4D5569CB-F1A5-9C7B-68FF-8CEE4C438768}"/>
              </a:ext>
            </a:extLst>
          </p:cNvPr>
          <p:cNvSpPr/>
          <p:nvPr/>
        </p:nvSpPr>
        <p:spPr>
          <a:xfrm>
            <a:off x="8518251" y="1351937"/>
            <a:ext cx="1020128" cy="135551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F0239C-96A9-753A-C236-1C77C54EEAFB}"/>
              </a:ext>
            </a:extLst>
          </p:cNvPr>
          <p:cNvSpPr/>
          <p:nvPr/>
        </p:nvSpPr>
        <p:spPr>
          <a:xfrm>
            <a:off x="588521" y="960278"/>
            <a:ext cx="2290952" cy="215356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D0746C-7412-92F8-F57D-0B89B6955D99}"/>
              </a:ext>
            </a:extLst>
          </p:cNvPr>
          <p:cNvSpPr/>
          <p:nvPr/>
        </p:nvSpPr>
        <p:spPr>
          <a:xfrm>
            <a:off x="4234546" y="960277"/>
            <a:ext cx="5406470" cy="215356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A41F8-2D69-A9E0-5197-BECF84D2DA44}"/>
              </a:ext>
            </a:extLst>
          </p:cNvPr>
          <p:cNvSpPr/>
          <p:nvPr/>
        </p:nvSpPr>
        <p:spPr>
          <a:xfrm>
            <a:off x="4234546" y="3689974"/>
            <a:ext cx="5570445" cy="215356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3DA12D-FC06-BE12-5E92-5955E47A9C6E}"/>
              </a:ext>
            </a:extLst>
          </p:cNvPr>
          <p:cNvSpPr txBox="1"/>
          <p:nvPr/>
        </p:nvSpPr>
        <p:spPr>
          <a:xfrm>
            <a:off x="596753" y="582035"/>
            <a:ext cx="22898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Public Subnet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301EDD-9E66-B92E-F23D-A52153161030}"/>
              </a:ext>
            </a:extLst>
          </p:cNvPr>
          <p:cNvSpPr txBox="1"/>
          <p:nvPr/>
        </p:nvSpPr>
        <p:spPr>
          <a:xfrm>
            <a:off x="4233132" y="582034"/>
            <a:ext cx="22898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Private Subnet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A897D4-6E3A-D319-893E-782F75203CAE}"/>
              </a:ext>
            </a:extLst>
          </p:cNvPr>
          <p:cNvSpPr txBox="1"/>
          <p:nvPr/>
        </p:nvSpPr>
        <p:spPr>
          <a:xfrm>
            <a:off x="4233133" y="3311731"/>
            <a:ext cx="22898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Private Subnet 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494EF4-A7D5-D5F7-BC4C-0E12CB78E83B}"/>
              </a:ext>
            </a:extLst>
          </p:cNvPr>
          <p:cNvCxnSpPr/>
          <p:nvPr/>
        </p:nvCxnSpPr>
        <p:spPr>
          <a:xfrm>
            <a:off x="2585258" y="1984359"/>
            <a:ext cx="1872564" cy="13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D8D0EE-5FB5-8A72-DFDF-DC8C94E3C898}"/>
              </a:ext>
            </a:extLst>
          </p:cNvPr>
          <p:cNvCxnSpPr>
            <a:cxnSpLocks/>
          </p:cNvCxnSpPr>
          <p:nvPr/>
        </p:nvCxnSpPr>
        <p:spPr>
          <a:xfrm>
            <a:off x="5372827" y="2620967"/>
            <a:ext cx="20615" cy="1509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078197-E621-04DA-CB4C-D867AF924BD6}"/>
              </a:ext>
            </a:extLst>
          </p:cNvPr>
          <p:cNvCxnSpPr>
            <a:cxnSpLocks/>
          </p:cNvCxnSpPr>
          <p:nvPr/>
        </p:nvCxnSpPr>
        <p:spPr>
          <a:xfrm flipV="1">
            <a:off x="6096245" y="4747316"/>
            <a:ext cx="2422361" cy="14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052A11B-AE5E-E153-FA47-A8FD1BBDA607}"/>
              </a:ext>
            </a:extLst>
          </p:cNvPr>
          <p:cNvSpPr txBox="1"/>
          <p:nvPr/>
        </p:nvSpPr>
        <p:spPr>
          <a:xfrm>
            <a:off x="5374885" y="2744761"/>
            <a:ext cx="630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TLS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128050-D41A-A0AF-FD00-6976E672A14F}"/>
              </a:ext>
            </a:extLst>
          </p:cNvPr>
          <p:cNvSpPr txBox="1"/>
          <p:nvPr/>
        </p:nvSpPr>
        <p:spPr>
          <a:xfrm>
            <a:off x="3204632" y="1625874"/>
            <a:ext cx="630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TLS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B96E7E-AC9F-B6E6-8741-430163DB04BE}"/>
              </a:ext>
            </a:extLst>
          </p:cNvPr>
          <p:cNvSpPr txBox="1"/>
          <p:nvPr/>
        </p:nvSpPr>
        <p:spPr>
          <a:xfrm>
            <a:off x="7024278" y="4394153"/>
            <a:ext cx="630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TLS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2EF7FB-BFDF-F8C1-C1E8-51929BA83326}"/>
              </a:ext>
            </a:extLst>
          </p:cNvPr>
          <p:cNvCxnSpPr>
            <a:cxnSpLocks/>
          </p:cNvCxnSpPr>
          <p:nvPr/>
        </p:nvCxnSpPr>
        <p:spPr>
          <a:xfrm flipV="1">
            <a:off x="1659284" y="2634936"/>
            <a:ext cx="1324" cy="1510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Boardroom with solid fill">
            <a:extLst>
              <a:ext uri="{FF2B5EF4-FFF2-40B4-BE49-F238E27FC236}">
                <a16:creationId xmlns:a16="http://schemas.microsoft.com/office/drawing/2014/main" id="{3698C25E-AD28-2B3D-EEDA-5C8C4732D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8880" y="4180840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40166D5-BE96-E99A-2349-5AB600165FB0}"/>
              </a:ext>
            </a:extLst>
          </p:cNvPr>
          <p:cNvSpPr txBox="1"/>
          <p:nvPr/>
        </p:nvSpPr>
        <p:spPr>
          <a:xfrm>
            <a:off x="167692" y="571551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65E008-6012-3B4B-097E-7BAD0A75F085}"/>
              </a:ext>
            </a:extLst>
          </p:cNvPr>
          <p:cNvSpPr txBox="1"/>
          <p:nvPr/>
        </p:nvSpPr>
        <p:spPr>
          <a:xfrm>
            <a:off x="1201131" y="4907463"/>
            <a:ext cx="9347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Users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357ECD-3221-6EBD-C886-5A9D86D23FAD}"/>
              </a:ext>
            </a:extLst>
          </p:cNvPr>
          <p:cNvSpPr txBox="1"/>
          <p:nvPr/>
        </p:nvSpPr>
        <p:spPr>
          <a:xfrm>
            <a:off x="1741592" y="3312434"/>
            <a:ext cx="11083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TLS/MFA</a:t>
            </a:r>
          </a:p>
        </p:txBody>
      </p:sp>
    </p:spTree>
    <p:extLst>
      <p:ext uri="{BB962C8B-B14F-4D97-AF65-F5344CB8AC3E}">
        <p14:creationId xmlns:p14="http://schemas.microsoft.com/office/powerpoint/2010/main" val="10712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0482-FF46-1DE6-2957-1A51F71A4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Outcome: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25AC-6ADA-1C28-A0B3-AFD908D11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Three instances were created on the AWS. One public subnet (hosting the WebApp), and two private subnets (Web Service 1 and 2, and the RDS instance) with appropriate security groups configured. Care was taken to configure safe inbound and outbound rules for all the three instances, and no unnecessary rules/access was added as part of the rules.</a:t>
            </a:r>
          </a:p>
          <a:p>
            <a:r>
              <a:rPr lang="en-US" sz="2000" dirty="0"/>
              <a:t>One RDS database instance was created, which is placed in Private Subnet 2.</a:t>
            </a:r>
          </a:p>
          <a:p>
            <a:r>
              <a:rPr lang="en-US" sz="2000" dirty="0"/>
              <a:t>Nginx service was installed on all the three servers. Self Signed certificates using OpenSSL were generated. These certificates incorporate RSA 2048 key, with a validity of 1 year. This further created two files: certificate file(Server.crt) and </a:t>
            </a:r>
            <a:r>
              <a:rPr lang="en-US" sz="2000" dirty="0" err="1"/>
              <a:t>server.key</a:t>
            </a:r>
            <a:r>
              <a:rPr lang="en-US" sz="2000" dirty="0"/>
              <a:t> file (private key file). TLS connectivity was tested using the “curl” command, and the TLS handshake was completed. This proves that TLS has been established between the servers communicating.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6120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B4FB7-FBF8-8168-934C-AEB4543D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4328D-8AA3-6749-10D8-76AD3E7B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Outcome: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E1163-F4ED-47DB-50B8-D903BC5BC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Screenshot showing the TLS </a:t>
            </a:r>
          </a:p>
          <a:p>
            <a:pPr marL="0" indent="0">
              <a:buNone/>
            </a:pPr>
            <a:r>
              <a:rPr lang="en-US" sz="2000" dirty="0"/>
              <a:t>Handshake.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8ABFFC-38F4-A629-A7E9-F2F2CADF2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321" y="365125"/>
            <a:ext cx="6657209" cy="633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284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780C-5817-B287-FED4-72E9F1487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A8A6-4BA0-8F72-AEA1-57AFC3A4B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Outcome: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441FE-C781-69B9-8731-8D1C21E91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 basic front end web application was built, which comprises of a login page, which fetches the data from the RDS database instance to output to the WebApp. </a:t>
            </a:r>
          </a:p>
          <a:p>
            <a:r>
              <a:rPr lang="en-US" sz="2000" dirty="0"/>
              <a:t>This project is still a work in progress, as I am still working on the Active Directory Part, and MFA implementation. I am also still working on expanding the number of users and implementing the database schema </a:t>
            </a:r>
            <a:r>
              <a:rPr lang="en-US" sz="2000"/>
              <a:t>for multiple users. </a:t>
            </a:r>
          </a:p>
          <a:p>
            <a:pPr marL="0" indent="0">
              <a:buNone/>
            </a:pP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82018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461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ENPM 665 Cloud Security</vt:lpstr>
      <vt:lpstr>Architecture</vt:lpstr>
      <vt:lpstr>Use Case</vt:lpstr>
      <vt:lpstr>Demo</vt:lpstr>
      <vt:lpstr>PowerPoint Presentation</vt:lpstr>
      <vt:lpstr>Final Outcome: </vt:lpstr>
      <vt:lpstr>Final Outcome: </vt:lpstr>
      <vt:lpstr>Final Outcome: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Monish Arumugam</cp:lastModifiedBy>
  <cp:revision>221</cp:revision>
  <dcterms:created xsi:type="dcterms:W3CDTF">2026-03-07T18:26:19Z</dcterms:created>
  <dcterms:modified xsi:type="dcterms:W3CDTF">2026-03-19T21:12:04Z</dcterms:modified>
</cp:coreProperties>
</file>